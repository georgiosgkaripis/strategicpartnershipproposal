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pc2rb6B027V03X716sKh8/2t9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(€M)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B8A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Completed
Contracts</c:v>
                  </c:pt>
                  <c:pt idx="1">
                    <c:v>Ongoing
Tenders</c:v>
                  </c:pt>
                  <c:pt idx="2">
                    <c:v>2026 Target
Pipeline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43</c:v>
                </c:pt>
                <c:pt idx="2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B8A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8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D284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371600" y="146304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371600" y="160020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AUSTAL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71600" y="233172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Strategic Partnership Proposal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71600" y="288036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Joint Venture Opportunity in Romanian Infrastructure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71600" y="42062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Confidential  |  April 2026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About AUSTAL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proven Romanian construction partner with deep infrastructure expertise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141732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1417320"/>
            <a:ext cx="6400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234440" y="16002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Road Infrastructure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234440" y="1920240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Proven track record in road construction, highway works, and transport infrastructure projects across Romania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09160" y="141732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709160" y="1417320"/>
            <a:ext cx="6400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645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486400" y="160020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Water &amp; Sewer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0" y="1920240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Execution capabilities in water network expansion and sewerage system construction for public utilities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20040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3200400"/>
            <a:ext cx="6400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234440" y="33832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Civil Works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34440" y="3703320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Comprehensive civil engineering expertise covering foundations, structural works, and public facility construction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09160" y="320040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709160" y="3200400"/>
            <a:ext cx="64008" cy="14173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3429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5486400" y="33832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Operational Capacity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0" y="3703320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Own ballast resources, heavy equipment fleet, and experienced operational teams ready for large-scale deployment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AUSTAL by the Numbers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11480" y="1234440"/>
            <a:ext cx="1874520" cy="2377440"/>
          </a:xfrm>
          <a:prstGeom prst="rect">
            <a:avLst/>
          </a:prstGeom>
          <a:solidFill>
            <a:srgbClr val="0D2847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11480" y="1508760"/>
            <a:ext cx="1874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€35-40M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60120" y="2194560"/>
            <a:ext cx="777240" cy="36576"/>
          </a:xfrm>
          <a:prstGeom prst="rect">
            <a:avLst/>
          </a:prstGeom>
          <a:solidFill>
            <a:srgbClr val="14B8A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48640" y="237744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Increasing Annual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Turnover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606040" y="1234440"/>
            <a:ext cx="1874520" cy="2377440"/>
          </a:xfrm>
          <a:prstGeom prst="rect">
            <a:avLst/>
          </a:prstGeom>
          <a:solidFill>
            <a:srgbClr val="0D2847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606040" y="1508760"/>
            <a:ext cx="1874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€40M+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154680" y="2194560"/>
            <a:ext cx="777240" cy="36576"/>
          </a:xfrm>
          <a:prstGeom prst="rect">
            <a:avLst/>
          </a:prstGeom>
          <a:solidFill>
            <a:srgbClr val="F59E0B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743200" y="237744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Public Contracts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Completed &amp; Ongoing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800600" y="1234440"/>
            <a:ext cx="1874520" cy="2377440"/>
          </a:xfrm>
          <a:prstGeom prst="rect">
            <a:avLst/>
          </a:prstGeom>
          <a:solidFill>
            <a:srgbClr val="0D2847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800600" y="1508760"/>
            <a:ext cx="1874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€43M+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349240" y="2194560"/>
            <a:ext cx="777240" cy="36576"/>
          </a:xfrm>
          <a:prstGeom prst="rect">
            <a:avLst/>
          </a:prstGeom>
          <a:solidFill>
            <a:srgbClr val="14B8A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937760" y="237744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Ongoing Tender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Participation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995160" y="1234440"/>
            <a:ext cx="1874520" cy="2377440"/>
          </a:xfrm>
          <a:prstGeom prst="rect">
            <a:avLst/>
          </a:prstGeom>
          <a:solidFill>
            <a:srgbClr val="0D2847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995160" y="1508760"/>
            <a:ext cx="1874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€1B+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543800" y="2194560"/>
            <a:ext cx="777240" cy="36576"/>
          </a:xfrm>
          <a:prstGeom prst="rect">
            <a:avLst/>
          </a:prstGeom>
          <a:solidFill>
            <a:srgbClr val="F59E0B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132320" y="2377440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Targeted Tender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Pipeline 2026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Projects range from €50M to €200M, covering road, utilities, and civil infrastructure sectors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Why Romania — Why Now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booming EU-funded infrastructure market with immediate opportunities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" y="137160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361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1417320" y="144475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Georgia"/>
                <a:ea typeface="Georgia"/>
                <a:cs typeface="Georgia"/>
                <a:sym typeface="Georgia"/>
              </a:rPr>
              <a:t>€7.6 Billion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417320" y="17190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EU transport infrastructure allocation for Romania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640080" y="224028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4048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1417320" y="231343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Georgia"/>
                <a:ea typeface="Georgia"/>
                <a:cs typeface="Georgia"/>
                <a:sym typeface="Georgia"/>
              </a:rPr>
              <a:t>9.2% Growth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417320" y="25877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Construction industry growth in 2025; 5.5% expected 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40080" y="310896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2735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1417320" y="31821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Georgia"/>
                <a:ea typeface="Georgia"/>
                <a:cs typeface="Georgia"/>
                <a:sym typeface="Georgia"/>
              </a:rPr>
              <a:t>€33 Billion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417320" y="34564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Romania's 2026 capital budget — largest in modern history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40080" y="3977640"/>
            <a:ext cx="48463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41422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417320" y="40507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Georgia"/>
                <a:ea typeface="Georgia"/>
                <a:cs typeface="Georgia"/>
                <a:sym typeface="Georgia"/>
              </a:rPr>
              <a:t>429 km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417320" y="43251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New motorways planned to be completed by Q2 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760720" y="1371600"/>
            <a:ext cx="2926080" cy="327355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94360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Key Projects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126480" y="196596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‣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A1 Sibiu–Pitești (€500M EIB)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126480" y="236829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‣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A7 Ploiești–Pașcani (€1.8B)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26480" y="2770632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‣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A3 Nădășelu–P. Sălajului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126480" y="317296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‣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Bucharest–Alexandria Highway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126480" y="357530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‣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Arad–Oradea Expressway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126480" y="397764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‣"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Water &amp; sewer: 4,500 km expansion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The Partnership Model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Joint Venture structure for large-scale public infrastructure tenders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1371600"/>
            <a:ext cx="379476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57200" y="1371600"/>
            <a:ext cx="3794760" cy="502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447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/>
          <p:nvPr/>
        </p:nvSpPr>
        <p:spPr>
          <a:xfrm>
            <a:off x="1097280" y="14173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AUSTAL Contribution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85800" y="205740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Deep local market knowledge and regulatory expertise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5800" y="2432304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Proven execution capacity on projects up to €40M+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85800" y="280720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Own equipment fleet and ballast resources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85800" y="3182112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Established operational teams on the ground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85800" y="3557016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Direct access to public procurement pipeline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5800" y="393192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Active tender participation (€43M+ ongoing)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92040" y="1371600"/>
            <a:ext cx="379476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892040" y="1371600"/>
            <a:ext cx="37947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4447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5532120" y="141732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Partner Contribution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120640" y="205740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Financial strength and strong balance sheet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120640" y="2432304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Relevant annual turnover for tender qualification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120640" y="2807208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Provision of bid guarantees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120640" y="3182112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Provision of performance guarantees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120640" y="3557016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Provision of advance payment guarantees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120640" y="3931920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Char char="✓"/>
            </a:pPr>
            <a:r>
              <a:rPr b="0" i="0" lang="en-US" sz="1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International construction track record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Ideal Partner Profile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Key qualifications and characteristics we seek in a JV partner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40080" y="1371600"/>
            <a:ext cx="7863840" cy="576072"/>
          </a:xfrm>
          <a:prstGeom prst="rect">
            <a:avLst/>
          </a:prstGeom>
          <a:solidFill>
            <a:srgbClr val="0D28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4813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1371600" y="1417320"/>
            <a:ext cx="1645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Financial Capacity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063240" y="1417320"/>
            <a:ext cx="521208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Strong balance sheet with sufficient annual turnover to meet qualification thresholds for tenders ranging €50M–€200M. Ability to provide bid bonds and guarantees.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40080" y="2084832"/>
            <a:ext cx="7863840" cy="576072"/>
          </a:xfrm>
          <a:prstGeom prst="rect">
            <a:avLst/>
          </a:prstGeom>
          <a:solidFill>
            <a:srgbClr val="0D28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194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371600" y="2130552"/>
            <a:ext cx="1645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Guarantee Capability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063240" y="2130552"/>
            <a:ext cx="521208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Capacity to issue bid guarantees, performance bonds, and advance payment guarantees required by Romanian public procurement regulations.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40080" y="2798064"/>
            <a:ext cx="7863840" cy="576072"/>
          </a:xfrm>
          <a:prstGeom prst="rect">
            <a:avLst/>
          </a:prstGeom>
          <a:solidFill>
            <a:srgbClr val="0D28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29077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1371600" y="2843784"/>
            <a:ext cx="1645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Industry Experience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063240" y="2843784"/>
            <a:ext cx="521208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Demonstrated track record in road infrastructure, civil engineering, or public utilities construction. Experience with EU-funded projects is a strong plus.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40080" y="3511296"/>
            <a:ext cx="7863840" cy="576072"/>
          </a:xfrm>
          <a:prstGeom prst="rect">
            <a:avLst/>
          </a:prstGeom>
          <a:solidFill>
            <a:srgbClr val="0D28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362102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1371600" y="3557016"/>
            <a:ext cx="1645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Regulatory Compliance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063240" y="3557016"/>
            <a:ext cx="521208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Alignment with EU procurement standards (Directive 2014/24/EU) and Romanian Law 98/2016. Clean legal standing with no procurement disqualifications.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40080" y="4224528"/>
            <a:ext cx="7863840" cy="576072"/>
          </a:xfrm>
          <a:prstGeom prst="rect">
            <a:avLst/>
          </a:prstGeom>
          <a:solidFill>
            <a:srgbClr val="0D28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433425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1371600" y="4270248"/>
            <a:ext cx="16459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International Reach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063240" y="4270248"/>
            <a:ext cx="521208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Established presence in European or international markets, with interest in expanding into the fast-growing Romanian infrastructure sector.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Mutual Benefits of Partnership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20040" y="1097280"/>
            <a:ext cx="2697480" cy="4572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57200" y="1143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the Partner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02920" y="1737360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Immediate access to Romania's €33B capital investment market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02920" y="2304288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Established local partner with regulatory expertise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02920" y="2871216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Ready pipeline of €1B+ in identified tender opportunities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02920" y="3438144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Shared risk on large-scale projects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02920" y="4005072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Access to local workforce, equipment, and supply chains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246120" y="10972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246120" y="1097280"/>
            <a:ext cx="2697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383280" y="1143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AUSTAL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429000" y="1737360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Financial backing to pursue €50M–€200M projects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429000" y="2304288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Guarantee support for bid, performance, and advance bonds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429000" y="2871216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International credibility and expanded track record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429000" y="3438144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Ability to scale operations beyond current capacity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429000" y="4005072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Knowledge transfer and best practice exchange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172200" y="1097280"/>
            <a:ext cx="269748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309360" y="1143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For the JV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355080" y="1737360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Competitive advantage combining local + international strength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355080" y="2304288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Qualification for the largest tenders in Romania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355080" y="2871216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Diversified risk across multiple project types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355080" y="3438144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Stronger negotiating position with subcontractors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355080" y="4005072"/>
            <a:ext cx="2331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Char char="✓"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Long-term platform for Southeast European expansion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EU Funding &amp; Regulatory Framework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57200" y="1097280"/>
            <a:ext cx="64008" cy="352044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E7490"/>
                </a:solidFill>
                <a:latin typeface="Georgia"/>
                <a:ea typeface="Georgia"/>
                <a:cs typeface="Georgia"/>
                <a:sym typeface="Georgia"/>
              </a:rPr>
              <a:t>Funding Sources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731520" y="1691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EU Cohesion Fund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31520" y="18928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Core infrastructure financing for transport and environment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31520" y="22402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Recovery &amp; Resilience Facility (PNRR)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31520" y="244144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Highway development and green infrastructure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31520" y="278892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European Investment Bank (EIB)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731520" y="29900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€1.4B for A3 &amp; A7; €500M for A1 motorway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31520" y="333756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SAFE Funds (post-2026)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31520" y="35387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Continuation of infrastructure spending beyond PNRR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731520" y="388620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National Budget (2026)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31520" y="40873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€33B capital allocation — 8% of GDP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663440" y="1097280"/>
            <a:ext cx="402336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663440" y="1097280"/>
            <a:ext cx="64008" cy="3520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Legal Framework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937760" y="1691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EU Directive 2014/24/EU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937760" y="18928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Public procurement standards for all member states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37760" y="22402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Romanian Law 98/2016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44144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National transposition of EU procurement directives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937760" y="278892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SEAP Platform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29900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Electronic System for Public Procurement (official portal)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937760" y="333756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ANAP Oversight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937760" y="353872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National Authority for Public Procurement regulation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937760" y="388620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JV Provisions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937760" y="40873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Joint ventures formally recognized in Romanian procurement law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Tender Pipeline &amp; Growth Trajectory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4" name="Google Shape;234;p9"/>
          <p:cNvGraphicFramePr/>
          <p:nvPr/>
        </p:nvGraphicFramePr>
        <p:xfrm>
          <a:off x="457200" y="1051560"/>
          <a:ext cx="5029200" cy="34747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35" name="Google Shape;235;p9"/>
          <p:cNvSpPr/>
          <p:nvPr/>
        </p:nvSpPr>
        <p:spPr>
          <a:xfrm>
            <a:off x="5760720" y="1051560"/>
            <a:ext cx="3017520" cy="3474720"/>
          </a:xfrm>
          <a:prstGeom prst="rect">
            <a:avLst/>
          </a:prstGeom>
          <a:solidFill>
            <a:srgbClr val="0D28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943600" y="12344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4B8A6"/>
                </a:solidFill>
                <a:latin typeface="Georgia"/>
                <a:ea typeface="Georgia"/>
                <a:cs typeface="Georgia"/>
                <a:sym typeface="Georgia"/>
              </a:rPr>
              <a:t>Growth Context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943600" y="1691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Char char="▸"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AUSTAL has steadily grown from regional contractor to a company with €35–40M+ turnover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943600" y="222199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Char char="▸"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Currently participating in tenders worth €43M+ through JVs and subcontracting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943600" y="275234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Char char="▸"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2026 target pipeline exceeds €1 billion in projects ranging €50M–€200M each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943600" y="3282696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Char char="▸"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Partnership unlocks access to the largest-scale tenders that require combined financial qualification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943600" y="381304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Arial"/>
              <a:buChar char="▸"/>
            </a:pPr>
            <a:r>
              <a:rPr b="0" i="0" lang="en-US" sz="10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Romania's infrastructure boom creates a multi-year opportunity window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clear path from introduction to joint tender submission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731520" y="1444752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31520" y="144475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417320" y="1371600"/>
            <a:ext cx="7086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1600200" y="1408176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Initial Meeting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600200" y="1645920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Introductory call or meeting to discuss mutual interests, capabilities, and strategic alignment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31520" y="2139696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731520" y="21396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417320" y="2066544"/>
            <a:ext cx="7086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1600200" y="2103120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Due Diligence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600200" y="2340864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Exchange of company profiles, financial references, and relevant project portfolios for mutual evaluation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731520" y="2834640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731520" y="283464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417320" y="2761488"/>
            <a:ext cx="7086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1600200" y="2798064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JV Framework Agreement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600200" y="3035808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Drafting and signing of a Joint Venture framework agreement defining roles, responsibilities, and profit-sharing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31520" y="3529584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731520" y="35295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417320" y="3456432"/>
            <a:ext cx="7086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1600200" y="3493008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Tender Identification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600200" y="3730752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Joint selection of target tenders from the identified €1B+ pipeline based on combined qualifications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31520" y="4224528"/>
            <a:ext cx="438912" cy="438912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731520" y="422452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417320" y="4151376"/>
            <a:ext cx="7086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1600200" y="4187952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Georgia"/>
                <a:ea typeface="Georgia"/>
                <a:cs typeface="Georgia"/>
                <a:sym typeface="Georgia"/>
              </a:rPr>
              <a:t>Joint Bid Submission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600200" y="4425696"/>
            <a:ext cx="6675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Collaborative preparation and submission of competitive bids, leveraging both partners' strengths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D2847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200400" y="1188720"/>
            <a:ext cx="1097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Let's Build Together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1371600" y="224028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AUSTAL is ready to partner with a strong international ally 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capture Romania's unprecedented infrastructure opportunity.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14B8A6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B8A6"/>
                </a:solidFill>
                <a:latin typeface="Arial"/>
                <a:ea typeface="Arial"/>
                <a:cs typeface="Arial"/>
                <a:sym typeface="Arial"/>
              </a:rPr>
              <a:t>Contact us to start the conversation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AUSTAL  |  Romania  |  Confidential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2026-04-03T11:04:05Z</dcterms:created>
  <dc:creator>AUSTAL</dc:creator>
</cp:coreProperties>
</file>